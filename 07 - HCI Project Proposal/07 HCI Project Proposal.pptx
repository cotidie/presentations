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88950"/>
  <p:notesSz cx="6858000" cy="9144000"/>
  <p:embeddedFontLst>
    <p:embeddedFont>
      <p:font typeface="MuseoModerno"/>
      <p:regular r:id="rId19"/>
      <p:bold r:id="rId20"/>
      <p:italic r:id="rId21"/>
      <p:boldItalic r:id="rId22"/>
    </p:embeddedFont>
    <p:embeddedFont>
      <p:font typeface="Source Sans 3"/>
      <p:regular r:id="rId23"/>
      <p:bold r:id="rId24"/>
      <p:italic r:id="rId25"/>
      <p:boldItalic r:id="rId26"/>
    </p:embeddedFont>
    <p:embeddedFont>
      <p:font typeface="Average"/>
      <p:regular r:id="rId27"/>
    </p:embeddedFont>
    <p:embeddedFont>
      <p:font typeface="Oswald"/>
      <p:regular r:id="rId28"/>
      <p:bold r:id="rId29"/>
    </p:embeddedFont>
    <p:embeddedFont>
      <p:font typeface="Century Gothic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4F0B828-E0A1-498B-8E98-7A6E53CFBC92}">
  <a:tblStyle styleId="{84F0B828-E0A1-498B-8E98-7A6E53CFBC92}" styleName="Table_0">
    <a:wholeTbl>
      <a:tcTxStyle b="off" i="off">
        <a:font>
          <a:latin typeface="맑은 고딕"/>
          <a:ea typeface="맑은 고딕"/>
          <a:cs typeface="맑은 고딕"/>
        </a:font>
        <a:srgbClr val="000000"/>
      </a:tcTxStyle>
      <a:tcStyle>
        <a:tcBdr>
          <a:left>
            <a:ln cap="flat" cmpd="sng" w="12700">
              <a:solidFill>
                <a:srgbClr val="4F81BD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4F81BD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4F81BD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4F81BD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4F81BD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/>
          </a:solidFill>
        </a:fill>
      </a:tcStyle>
    </a:wholeTbl>
    <a:band1H>
      <a:tcTxStyle/>
      <a:tcStyle>
        <a:fill>
          <a:solidFill>
            <a:srgbClr val="E8ECF4"/>
          </a:solidFill>
        </a:fill>
      </a:tcStyle>
    </a:band1H>
    <a:band2H>
      <a:tcTxStyle/>
    </a:band2H>
    <a:band1V>
      <a:tcTxStyle/>
      <a:tcStyle>
        <a:fill>
          <a:solidFill>
            <a:srgbClr val="E8ECF4"/>
          </a:solidFill>
        </a:fill>
      </a:tcStyle>
    </a:band1V>
    <a:band2V>
      <a:tcTxStyle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rgbClr val="4F81BD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맑은 고딕"/>
          <a:ea typeface="맑은 고딕"/>
          <a:cs typeface="맑은 고딕"/>
        </a:font>
        <a:srgbClr val="FFFFFF"/>
      </a:tcTxStyle>
      <a:tcStyle>
        <a:fill>
          <a:solidFill>
            <a:srgbClr val="4F81BD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39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useoModerno-bold.fntdata"/><Relationship Id="rId22" Type="http://schemas.openxmlformats.org/officeDocument/2006/relationships/font" Target="fonts/MuseoModerno-boldItalic.fntdata"/><Relationship Id="rId21" Type="http://schemas.openxmlformats.org/officeDocument/2006/relationships/font" Target="fonts/MuseoModerno-italic.fntdata"/><Relationship Id="rId24" Type="http://schemas.openxmlformats.org/officeDocument/2006/relationships/font" Target="fonts/SourceSans3-bold.fntdata"/><Relationship Id="rId23" Type="http://schemas.openxmlformats.org/officeDocument/2006/relationships/font" Target="fonts/SourceSans3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SourceSans3-boldItalic.fntdata"/><Relationship Id="rId25" Type="http://schemas.openxmlformats.org/officeDocument/2006/relationships/font" Target="fonts/SourceSans3-italic.fntdata"/><Relationship Id="rId28" Type="http://schemas.openxmlformats.org/officeDocument/2006/relationships/font" Target="fonts/Oswald-regular.fntdata"/><Relationship Id="rId27" Type="http://schemas.openxmlformats.org/officeDocument/2006/relationships/font" Target="fonts/Average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Oswald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CenturyGothic-bold.fntdata"/><Relationship Id="rId30" Type="http://schemas.openxmlformats.org/officeDocument/2006/relationships/font" Target="fonts/CenturyGothic-regular.fntdata"/><Relationship Id="rId11" Type="http://schemas.openxmlformats.org/officeDocument/2006/relationships/slide" Target="slides/slide5.xml"/><Relationship Id="rId33" Type="http://schemas.openxmlformats.org/officeDocument/2006/relationships/font" Target="fonts/CenturyGothic-boldItalic.fntdata"/><Relationship Id="rId10" Type="http://schemas.openxmlformats.org/officeDocument/2006/relationships/slide" Target="slides/slide4.xml"/><Relationship Id="rId32" Type="http://schemas.openxmlformats.org/officeDocument/2006/relationships/font" Target="fonts/CenturyGothic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MuseoModerno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8cb86e0eb9_0_35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8cb86e0eb9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8cb86e0eb9_0_53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8cb86e0eb9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8cb86e0eb9_0_77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8cb86e0eb9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8cb86e0eb9_0_121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8cb86e0eb9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8cb86e0eb9_0_198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8cb86e0eb9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8cb86e0eb9_0_209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8cb86e0eb9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8cb86e0eb9_0_265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8cb86e0eb9_0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8204dcfc0d_0_22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8204dcfc0d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8cb86e0eb9_0_288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8cb86e0eb9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8204dcfc0d_0_74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8204dcfc0d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6e95972a44_0_63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6e95972a44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5799073" y="3807170"/>
            <a:ext cx="591336" cy="140843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875" lIns="121875" spcFirstLastPara="1" rIns="121875" wrap="square" tIns="121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875" lIns="121875" spcFirstLastPara="1" rIns="121875" wrap="square" tIns="121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875" lIns="121875" spcFirstLastPara="1" rIns="121875" wrap="square" tIns="121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894786" y="1321067"/>
            <a:ext cx="10399500" cy="2306700"/>
          </a:xfrm>
          <a:prstGeom prst="rect">
            <a:avLst/>
          </a:prstGeom>
        </p:spPr>
        <p:txBody>
          <a:bodyPr anchorCtr="0" anchor="b" bIns="121875" lIns="121875" spcFirstLastPara="1" rIns="121875" wrap="square" tIns="1218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894776" y="4233168"/>
            <a:ext cx="10399500" cy="10569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11317501" y="6241346"/>
            <a:ext cx="731400" cy="524700"/>
          </a:xfrm>
          <a:prstGeom prst="rect">
            <a:avLst/>
          </a:prstGeom>
        </p:spPr>
        <p:txBody>
          <a:bodyPr anchorCtr="0" anchor="ctr" bIns="121875" lIns="121875" spcFirstLastPara="1" rIns="121875" wrap="square" tIns="1218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94776" y="2855000"/>
            <a:ext cx="10467000" cy="1148100"/>
          </a:xfrm>
          <a:prstGeom prst="rect">
            <a:avLst/>
          </a:prstGeom>
        </p:spPr>
        <p:txBody>
          <a:bodyPr anchorCtr="0" anchor="ctr" bIns="121875" lIns="121875" spcFirstLastPara="1" rIns="121875" wrap="square" tIns="1218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11317501" y="6241346"/>
            <a:ext cx="731400" cy="524700"/>
          </a:xfrm>
          <a:prstGeom prst="rect">
            <a:avLst/>
          </a:prstGeom>
        </p:spPr>
        <p:txBody>
          <a:bodyPr anchorCtr="0" anchor="ctr" bIns="121875" lIns="121875" spcFirstLastPara="1" rIns="121875" wrap="square" tIns="1218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415496" y="593367"/>
            <a:ext cx="11358000" cy="7635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15496" y="1536633"/>
            <a:ext cx="11358000" cy="45552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11317501" y="6241346"/>
            <a:ext cx="731400" cy="524700"/>
          </a:xfrm>
          <a:prstGeom prst="rect">
            <a:avLst/>
          </a:prstGeom>
        </p:spPr>
        <p:txBody>
          <a:bodyPr anchorCtr="0" anchor="ctr" bIns="121875" lIns="121875" spcFirstLastPara="1" rIns="121875" wrap="square" tIns="1218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415496" y="593367"/>
            <a:ext cx="11358000" cy="7635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415496" y="1536633"/>
            <a:ext cx="5331900" cy="45552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6441588" y="1536633"/>
            <a:ext cx="5331900" cy="45552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11317501" y="6241346"/>
            <a:ext cx="731400" cy="524700"/>
          </a:xfrm>
          <a:prstGeom prst="rect">
            <a:avLst/>
          </a:prstGeom>
        </p:spPr>
        <p:txBody>
          <a:bodyPr anchorCtr="0" anchor="ctr" bIns="121875" lIns="121875" spcFirstLastPara="1" rIns="121875" wrap="square" tIns="1218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415496" y="593367"/>
            <a:ext cx="11358000" cy="7635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11317501" y="6241346"/>
            <a:ext cx="731400" cy="524700"/>
          </a:xfrm>
          <a:prstGeom prst="rect">
            <a:avLst/>
          </a:prstGeom>
        </p:spPr>
        <p:txBody>
          <a:bodyPr anchorCtr="0" anchor="ctr" bIns="121875" lIns="121875" spcFirstLastPara="1" rIns="121875" wrap="square" tIns="1218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415496" y="740800"/>
            <a:ext cx="3743100" cy="1007700"/>
          </a:xfrm>
          <a:prstGeom prst="rect">
            <a:avLst/>
          </a:prstGeom>
        </p:spPr>
        <p:txBody>
          <a:bodyPr anchorCtr="0" anchor="b" bIns="121875" lIns="121875" spcFirstLastPara="1" rIns="121875" wrap="square" tIns="1218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415496" y="1852800"/>
            <a:ext cx="3743100" cy="42393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11317501" y="6241346"/>
            <a:ext cx="731400" cy="524700"/>
          </a:xfrm>
          <a:prstGeom prst="rect">
            <a:avLst/>
          </a:prstGeom>
        </p:spPr>
        <p:txBody>
          <a:bodyPr anchorCtr="0" anchor="ctr" bIns="121875" lIns="121875" spcFirstLastPara="1" rIns="121875" wrap="square" tIns="1218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653503" y="701800"/>
            <a:ext cx="8300700" cy="5454300"/>
          </a:xfrm>
          <a:prstGeom prst="rect">
            <a:avLst/>
          </a:prstGeom>
        </p:spPr>
        <p:txBody>
          <a:bodyPr anchorCtr="0" anchor="ctr" bIns="121875" lIns="121875" spcFirstLastPara="1" rIns="121875" wrap="square" tIns="1218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11317501" y="6241346"/>
            <a:ext cx="731400" cy="524700"/>
          </a:xfrm>
          <a:prstGeom prst="rect">
            <a:avLst/>
          </a:prstGeom>
        </p:spPr>
        <p:txBody>
          <a:bodyPr anchorCtr="0" anchor="ctr" bIns="121875" lIns="121875" spcFirstLastPara="1" rIns="121875" wrap="square" tIns="12187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6094475" y="0"/>
            <a:ext cx="60945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6704556" y="5994000"/>
            <a:ext cx="624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353911" y="1441867"/>
            <a:ext cx="5392200" cy="2280300"/>
          </a:xfrm>
          <a:prstGeom prst="rect">
            <a:avLst/>
          </a:prstGeom>
        </p:spPr>
        <p:txBody>
          <a:bodyPr anchorCtr="0" anchor="b" bIns="121875" lIns="121875" spcFirstLastPara="1" rIns="121875" wrap="square" tIns="1218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353911" y="3793601"/>
            <a:ext cx="5392200" cy="17940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6584352" y="965600"/>
            <a:ext cx="5114700" cy="4926900"/>
          </a:xfrm>
          <a:prstGeom prst="rect">
            <a:avLst/>
          </a:prstGeom>
        </p:spPr>
        <p:txBody>
          <a:bodyPr anchorCtr="0" anchor="ctr" bIns="121875" lIns="121875" spcFirstLastPara="1" rIns="121875" wrap="square" tIns="121875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  <a:defRPr>
                <a:solidFill>
                  <a:schemeClr val="lt1"/>
                </a:solidFill>
              </a:defRPr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11317501" y="6241346"/>
            <a:ext cx="731400" cy="524700"/>
          </a:xfrm>
          <a:prstGeom prst="rect">
            <a:avLst/>
          </a:prstGeom>
        </p:spPr>
        <p:txBody>
          <a:bodyPr anchorCtr="0" anchor="ctr" bIns="121875" lIns="121875" spcFirstLastPara="1" rIns="121875" wrap="square" tIns="12187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15496" y="5640767"/>
            <a:ext cx="7996500" cy="806700"/>
          </a:xfrm>
          <a:prstGeom prst="rect">
            <a:avLst/>
          </a:prstGeom>
        </p:spPr>
        <p:txBody>
          <a:bodyPr anchorCtr="0" anchor="ctr" bIns="121875" lIns="121875" spcFirstLastPara="1" rIns="121875" wrap="square" tIns="12187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sz="2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11317501" y="6241346"/>
            <a:ext cx="731400" cy="524700"/>
          </a:xfrm>
          <a:prstGeom prst="rect">
            <a:avLst/>
          </a:prstGeom>
        </p:spPr>
        <p:txBody>
          <a:bodyPr anchorCtr="0" anchor="ctr" bIns="121875" lIns="121875" spcFirstLastPara="1" rIns="121875" wrap="square" tIns="1218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415496" y="1673700"/>
            <a:ext cx="11358000" cy="2520900"/>
          </a:xfrm>
          <a:prstGeom prst="rect">
            <a:avLst/>
          </a:prstGeom>
        </p:spPr>
        <p:txBody>
          <a:bodyPr anchorCtr="0" anchor="b" bIns="121875" lIns="121875" spcFirstLastPara="1" rIns="121875" wrap="square" tIns="1218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415496" y="4304567"/>
            <a:ext cx="11358000" cy="17343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11317501" y="6241346"/>
            <a:ext cx="731400" cy="524700"/>
          </a:xfrm>
          <a:prstGeom prst="rect">
            <a:avLst/>
          </a:prstGeom>
        </p:spPr>
        <p:txBody>
          <a:bodyPr anchorCtr="0" anchor="ctr" bIns="121875" lIns="121875" spcFirstLastPara="1" rIns="121875" wrap="square" tIns="1218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11317501" y="6241346"/>
            <a:ext cx="731400" cy="524700"/>
          </a:xfrm>
          <a:prstGeom prst="rect">
            <a:avLst/>
          </a:prstGeom>
        </p:spPr>
        <p:txBody>
          <a:bodyPr anchorCtr="0" anchor="ctr" bIns="121875" lIns="121875" spcFirstLastPara="1" rIns="121875" wrap="square" tIns="1218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15496" y="593367"/>
            <a:ext cx="113580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swald"/>
              <a:buNone/>
              <a:defRPr sz="4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swald"/>
              <a:buNone/>
              <a:defRPr sz="4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swald"/>
              <a:buNone/>
              <a:defRPr sz="4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swald"/>
              <a:buNone/>
              <a:defRPr sz="4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swald"/>
              <a:buNone/>
              <a:defRPr sz="4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swald"/>
              <a:buNone/>
              <a:defRPr sz="4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swald"/>
              <a:buNone/>
              <a:defRPr sz="4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swald"/>
              <a:buNone/>
              <a:defRPr sz="4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swald"/>
              <a:buNone/>
              <a:defRPr sz="4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15496" y="1536633"/>
            <a:ext cx="113580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verage"/>
              <a:buChar char="●"/>
              <a:defRPr sz="24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Average"/>
              <a:buChar char="○"/>
              <a:defRPr sz="19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Average"/>
              <a:buChar char="■"/>
              <a:defRPr sz="19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Average"/>
              <a:buChar char="●"/>
              <a:defRPr sz="19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Average"/>
              <a:buChar char="○"/>
              <a:defRPr sz="19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Average"/>
              <a:buChar char="■"/>
              <a:defRPr sz="19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Average"/>
              <a:buChar char="●"/>
              <a:defRPr sz="19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Average"/>
              <a:buChar char="○"/>
              <a:defRPr sz="19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Average"/>
              <a:buChar char="■"/>
              <a:defRPr sz="19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1317501" y="6241346"/>
            <a:ext cx="7314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121875" spcFirstLastPara="1" rIns="121875" wrap="square" tIns="121875">
            <a:normAutofit/>
          </a:bodyPr>
          <a:lstStyle>
            <a:lvl1pPr lvl="0" algn="r">
              <a:buNone/>
              <a:defRPr sz="13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3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3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3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3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3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3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3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3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drive.google.com/file/d/1wlvsXqKaR8jas4Jllm7o259u0kqyr6a2/view" TargetMode="External"/><Relationship Id="rId4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0.png"/><Relationship Id="rId4" Type="http://schemas.openxmlformats.org/officeDocument/2006/relationships/image" Target="../media/image19.png"/><Relationship Id="rId5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2.png"/><Relationship Id="rId5" Type="http://schemas.openxmlformats.org/officeDocument/2006/relationships/image" Target="../media/image8.png"/><Relationship Id="rId6" Type="http://schemas.openxmlformats.org/officeDocument/2006/relationships/image" Target="../media/image6.png"/><Relationship Id="rId7" Type="http://schemas.openxmlformats.org/officeDocument/2006/relationships/image" Target="../media/image9.png"/><Relationship Id="rId8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image15.png"/><Relationship Id="rId5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image" Target="../media/image13.png"/><Relationship Id="rId6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37300" y="1397275"/>
            <a:ext cx="11068500" cy="2306700"/>
          </a:xfrm>
          <a:prstGeom prst="rect">
            <a:avLst/>
          </a:prstGeom>
        </p:spPr>
        <p:txBody>
          <a:bodyPr anchorCtr="0" anchor="b" bIns="121875" lIns="121875" spcFirstLastPara="1" rIns="121875" wrap="square" tIns="1218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/>
              <a:t>AR Safety Mirror:</a:t>
            </a:r>
            <a:endParaRPr b="1" sz="5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Advancing Cyclists' Rear Hazard Awareness with AR Camera</a:t>
            </a:r>
            <a:endParaRPr sz="3800"/>
          </a:p>
        </p:txBody>
      </p:sp>
      <p:sp>
        <p:nvSpPr>
          <p:cNvPr id="60" name="Google Shape;60;p13"/>
          <p:cNvSpPr txBox="1"/>
          <p:nvPr/>
        </p:nvSpPr>
        <p:spPr>
          <a:xfrm>
            <a:off x="375806" y="375933"/>
            <a:ext cx="41673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1288976" y="4350361"/>
            <a:ext cx="9611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875" spcFirstLastPara="1" rIns="121875" wrap="square" tIns="609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" sz="1900">
                <a:solidFill>
                  <a:schemeClr val="dk1"/>
                </a:solidFill>
              </a:rPr>
              <a:t>Martin </a:t>
            </a:r>
            <a:r>
              <a:rPr lang="en" sz="1900">
                <a:solidFill>
                  <a:schemeClr val="dk1"/>
                </a:solidFill>
              </a:rPr>
              <a:t>Karastoyanov</a:t>
            </a:r>
            <a:r>
              <a:rPr lang="en" sz="1900">
                <a:solidFill>
                  <a:schemeClr val="dk1"/>
                </a:solidFill>
              </a:rPr>
              <a:t>, Jueon Park, Wonseok Jang</a:t>
            </a:r>
            <a:endParaRPr sz="1900">
              <a:solidFill>
                <a:schemeClr val="dk1"/>
              </a:solidFill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375813" y="5795028"/>
            <a:ext cx="1379400" cy="10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Date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1798371" y="5795031"/>
            <a:ext cx="8489400" cy="10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23 September, 2025</a:t>
            </a:r>
            <a:endParaRPr sz="2100">
              <a:solidFill>
                <a:schemeClr val="dk1"/>
              </a:solidFill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1237525" y="4471841"/>
            <a:ext cx="9611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60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i="1" lang="en" sz="1800">
                <a:solidFill>
                  <a:schemeClr val="dk1"/>
                </a:solidFill>
              </a:rPr>
              <a:t>Team 1</a:t>
            </a:r>
            <a:endParaRPr b="1" i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399250" y="356875"/>
            <a:ext cx="9489000" cy="695100"/>
          </a:xfrm>
          <a:prstGeom prst="rect">
            <a:avLst/>
          </a:prstGeom>
        </p:spPr>
        <p:txBody>
          <a:bodyPr anchorCtr="0" anchor="ctr" bIns="121875" lIns="121875" spcFirstLastPara="1" rIns="121875" wrap="square" tIns="1218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chemeClr val="lt1"/>
                </a:highlight>
              </a:rPr>
              <a:t>Motivation</a:t>
            </a:r>
            <a:r>
              <a:rPr lang="en">
                <a:highlight>
                  <a:srgbClr val="000000"/>
                </a:highlight>
              </a:rPr>
              <a:t>   </a:t>
            </a:r>
            <a:endParaRPr>
              <a:highlight>
                <a:srgbClr val="000000"/>
              </a:highlight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399250" y="114572"/>
            <a:ext cx="9547200" cy="33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72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666666"/>
              </a:solidFill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254000" y="1262025"/>
            <a:ext cx="11889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</a:t>
            </a:r>
            <a:r>
              <a:rPr b="1" lang="en" sz="2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ow do cyclists monitor their rear surroundings for potential hazards?</a:t>
            </a:r>
            <a:endParaRPr b="1" sz="26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72" name="Google Shape;72;p14" title="8304회. _ 지나갈게요! _ 자전거 도로에서 앞서가는 자전거를 추월하려다 사고가 나고 말았습니다 (online-video-cutter.com)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8300" y="2026175"/>
            <a:ext cx="4402876" cy="3302125"/>
          </a:xfrm>
          <a:prstGeom prst="rect">
            <a:avLst/>
          </a:prstGeom>
          <a:noFill/>
          <a:ln cap="flat" cmpd="sng" w="19050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3" name="Google Shape;73;p14"/>
          <p:cNvSpPr txBox="1"/>
          <p:nvPr/>
        </p:nvSpPr>
        <p:spPr>
          <a:xfrm>
            <a:off x="940550" y="5349838"/>
            <a:ext cx="4595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b="1" lang="en" sz="21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Need for Rear Awareness</a:t>
            </a:r>
            <a:endParaRPr b="1" sz="21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4" name="Google Shape;74;p14"/>
          <p:cNvSpPr txBox="1"/>
          <p:nvPr/>
        </p:nvSpPr>
        <p:spPr>
          <a:xfrm>
            <a:off x="940550" y="5811550"/>
            <a:ext cx="56856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2B415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Traditional solutions often fall short in providing comprehensive and safe rearward visibility</a:t>
            </a:r>
            <a:endParaRPr sz="16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75" name="Google Shape;75;p14"/>
          <p:cNvGrpSpPr/>
          <p:nvPr/>
        </p:nvGrpSpPr>
        <p:grpSpPr>
          <a:xfrm>
            <a:off x="6779843" y="2057077"/>
            <a:ext cx="4733034" cy="1037700"/>
            <a:chOff x="6007610" y="4059039"/>
            <a:chExt cx="4954500" cy="1037700"/>
          </a:xfrm>
        </p:grpSpPr>
        <p:sp>
          <p:nvSpPr>
            <p:cNvPr id="76" name="Google Shape;76;p14"/>
            <p:cNvSpPr/>
            <p:nvPr/>
          </p:nvSpPr>
          <p:spPr>
            <a:xfrm>
              <a:off x="6007610" y="4059039"/>
              <a:ext cx="4954500" cy="1037700"/>
            </a:xfrm>
            <a:prstGeom prst="roundRect">
              <a:avLst>
                <a:gd fmla="val 1933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4"/>
            <p:cNvSpPr/>
            <p:nvPr/>
          </p:nvSpPr>
          <p:spPr>
            <a:xfrm>
              <a:off x="6120483" y="4192643"/>
              <a:ext cx="3103098" cy="3374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235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Traditional Mirrors</a:t>
              </a:r>
              <a:endParaRPr sz="2000">
                <a:solidFill>
                  <a:schemeClr val="dk1"/>
                </a:solidFill>
                <a:latin typeface="MuseoModerno"/>
                <a:ea typeface="MuseoModerno"/>
                <a:cs typeface="MuseoModerno"/>
                <a:sym typeface="MuseoModerno"/>
              </a:endParaRPr>
            </a:p>
          </p:txBody>
        </p:sp>
        <p:sp>
          <p:nvSpPr>
            <p:cNvPr id="78" name="Google Shape;78;p14"/>
            <p:cNvSpPr/>
            <p:nvPr/>
          </p:nvSpPr>
          <p:spPr>
            <a:xfrm>
              <a:off x="6120483" y="4646304"/>
              <a:ext cx="4728652" cy="2850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50"/>
                <a:buFont typeface="Source Sans 3"/>
                <a:buNone/>
              </a:pPr>
              <a:r>
                <a:rPr lang="en" sz="1600">
                  <a:solidFill>
                    <a:srgbClr val="FFFFF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Limited field of view, prone to vibrations.</a:t>
              </a:r>
              <a:endParaRPr b="0" i="0" sz="1600" u="none" cap="none" strike="noStrike"/>
            </a:p>
          </p:txBody>
        </p:sp>
      </p:grpSp>
      <p:grpSp>
        <p:nvGrpSpPr>
          <p:cNvPr id="79" name="Google Shape;79;p14"/>
          <p:cNvGrpSpPr/>
          <p:nvPr/>
        </p:nvGrpSpPr>
        <p:grpSpPr>
          <a:xfrm>
            <a:off x="6779601" y="3169255"/>
            <a:ext cx="4732802" cy="1037700"/>
            <a:chOff x="2588703" y="3800152"/>
            <a:chExt cx="4595400" cy="1037700"/>
          </a:xfrm>
        </p:grpSpPr>
        <p:sp>
          <p:nvSpPr>
            <p:cNvPr id="80" name="Google Shape;80;p14"/>
            <p:cNvSpPr/>
            <p:nvPr/>
          </p:nvSpPr>
          <p:spPr>
            <a:xfrm>
              <a:off x="2588703" y="3800152"/>
              <a:ext cx="4595400" cy="1037700"/>
            </a:xfrm>
            <a:prstGeom prst="roundRect">
              <a:avLst>
                <a:gd fmla="val 1933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4"/>
            <p:cNvSpPr/>
            <p:nvPr/>
          </p:nvSpPr>
          <p:spPr>
            <a:xfrm>
              <a:off x="2693393" y="3933756"/>
              <a:ext cx="2878218" cy="33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235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Head Turns</a:t>
              </a:r>
              <a:endParaRPr sz="2000">
                <a:solidFill>
                  <a:schemeClr val="dk1"/>
                </a:solidFill>
                <a:latin typeface="MuseoModerno"/>
                <a:ea typeface="MuseoModerno"/>
                <a:cs typeface="MuseoModerno"/>
                <a:sym typeface="MuseoModerno"/>
              </a:endParaRPr>
            </a:p>
          </p:txBody>
        </p:sp>
        <p:sp>
          <p:nvSpPr>
            <p:cNvPr id="82" name="Google Shape;82;p14"/>
            <p:cNvSpPr/>
            <p:nvPr/>
          </p:nvSpPr>
          <p:spPr>
            <a:xfrm>
              <a:off x="2693393" y="4387417"/>
              <a:ext cx="4385777" cy="28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50"/>
                <a:buFont typeface="Source Sans 3"/>
                <a:buNone/>
              </a:pPr>
              <a:r>
                <a:rPr lang="en" sz="1600">
                  <a:solidFill>
                    <a:srgbClr val="FFFFF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Loss of forward vision, unstable riding.</a:t>
              </a:r>
              <a:endParaRPr b="0" i="0" sz="1600" u="none" cap="none" strike="noStrike"/>
            </a:p>
          </p:txBody>
        </p:sp>
      </p:grpSp>
      <p:grpSp>
        <p:nvGrpSpPr>
          <p:cNvPr id="83" name="Google Shape;83;p14"/>
          <p:cNvGrpSpPr/>
          <p:nvPr/>
        </p:nvGrpSpPr>
        <p:grpSpPr>
          <a:xfrm>
            <a:off x="6779650" y="4290604"/>
            <a:ext cx="4732802" cy="1037700"/>
            <a:chOff x="2254103" y="3778845"/>
            <a:chExt cx="4595400" cy="1037700"/>
          </a:xfrm>
        </p:grpSpPr>
        <p:sp>
          <p:nvSpPr>
            <p:cNvPr id="84" name="Google Shape;84;p14"/>
            <p:cNvSpPr/>
            <p:nvPr/>
          </p:nvSpPr>
          <p:spPr>
            <a:xfrm>
              <a:off x="2254103" y="3778845"/>
              <a:ext cx="4595400" cy="1037700"/>
            </a:xfrm>
            <a:prstGeom prst="roundRect">
              <a:avLst>
                <a:gd fmla="val 1933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4"/>
            <p:cNvSpPr/>
            <p:nvPr/>
          </p:nvSpPr>
          <p:spPr>
            <a:xfrm>
              <a:off x="2358799" y="3939891"/>
              <a:ext cx="3245700" cy="33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2352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Missing Alerts of Others</a:t>
              </a:r>
              <a:endParaRPr sz="2000">
                <a:solidFill>
                  <a:schemeClr val="dk1"/>
                </a:solidFill>
                <a:latin typeface="MuseoModerno"/>
                <a:ea typeface="MuseoModerno"/>
                <a:cs typeface="MuseoModerno"/>
                <a:sym typeface="MuseoModerno"/>
              </a:endParaRPr>
            </a:p>
          </p:txBody>
        </p:sp>
        <p:sp>
          <p:nvSpPr>
            <p:cNvPr id="86" name="Google Shape;86;p14"/>
            <p:cNvSpPr/>
            <p:nvPr/>
          </p:nvSpPr>
          <p:spPr>
            <a:xfrm>
              <a:off x="2358793" y="4393542"/>
              <a:ext cx="4385700" cy="28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50"/>
                <a:buFont typeface="Source Sans 3"/>
                <a:buNone/>
              </a:pPr>
              <a:r>
                <a:rPr lang="en" sz="1600">
                  <a:solidFill>
                    <a:srgbClr val="FFFFF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Can miss signals due to noisy outdoor environment</a:t>
              </a:r>
              <a:endParaRPr b="0" i="0" sz="1600" u="none" cap="none" strike="noStrike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 txBox="1"/>
          <p:nvPr>
            <p:ph type="title"/>
          </p:nvPr>
        </p:nvSpPr>
        <p:spPr>
          <a:xfrm>
            <a:off x="399250" y="356875"/>
            <a:ext cx="9489000" cy="695100"/>
          </a:xfrm>
          <a:prstGeom prst="rect">
            <a:avLst/>
          </a:prstGeom>
        </p:spPr>
        <p:txBody>
          <a:bodyPr anchorCtr="0" anchor="ctr" bIns="121875" lIns="121875" spcFirstLastPara="1" rIns="121875" wrap="square" tIns="1218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chemeClr val="lt1"/>
                </a:highlight>
              </a:rPr>
              <a:t>Motivation: Existing Paper   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92" name="Google Shape;92;p15"/>
          <p:cNvSpPr txBox="1"/>
          <p:nvPr/>
        </p:nvSpPr>
        <p:spPr>
          <a:xfrm>
            <a:off x="399250" y="114572"/>
            <a:ext cx="9547200" cy="33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72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666666"/>
              </a:solidFill>
            </a:endParaRPr>
          </a:p>
        </p:txBody>
      </p:sp>
      <p:pic>
        <p:nvPicPr>
          <p:cNvPr id="93" name="Google Shape;9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7716" y="1094499"/>
            <a:ext cx="4189835" cy="5439699"/>
          </a:xfrm>
          <a:prstGeom prst="rect">
            <a:avLst/>
          </a:prstGeom>
          <a:noFill/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4" name="Google Shape;9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1075" y="2247450"/>
            <a:ext cx="5653150" cy="145682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5"/>
          <p:cNvSpPr txBox="1"/>
          <p:nvPr/>
        </p:nvSpPr>
        <p:spPr>
          <a:xfrm>
            <a:off x="542500" y="1399175"/>
            <a:ext cx="6320400" cy="9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(1) </a:t>
            </a:r>
            <a:r>
              <a:rPr b="1" lang="en"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Detection</a:t>
            </a:r>
            <a:r>
              <a:rPr lang="en"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 ultrasonic sensor to detect overtaking motorcycles on the left/right side </a:t>
            </a:r>
            <a:endParaRPr sz="20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66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66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66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6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6" name="Google Shape;96;p15"/>
          <p:cNvSpPr txBox="1"/>
          <p:nvPr/>
        </p:nvSpPr>
        <p:spPr>
          <a:xfrm>
            <a:off x="530325" y="4211675"/>
            <a:ext cx="7714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(2)</a:t>
            </a:r>
            <a:r>
              <a:rPr lang="en"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b="1" lang="en" sz="22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Alerts</a:t>
            </a:r>
            <a:r>
              <a:rPr lang="en"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 visual display + warning sounds on AR glasses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97" name="Google Shape;97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3625" y="4725450"/>
            <a:ext cx="5181600" cy="121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>
            <p:ph type="title"/>
          </p:nvPr>
        </p:nvSpPr>
        <p:spPr>
          <a:xfrm>
            <a:off x="399250" y="356875"/>
            <a:ext cx="9489000" cy="695100"/>
          </a:xfrm>
          <a:prstGeom prst="rect">
            <a:avLst/>
          </a:prstGeom>
        </p:spPr>
        <p:txBody>
          <a:bodyPr anchorCtr="0" anchor="ctr" bIns="121875" lIns="121875" spcFirstLastPara="1" rIns="121875" wrap="square" tIns="1218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chemeClr val="lt1"/>
                </a:highlight>
              </a:rPr>
              <a:t>Limitations</a:t>
            </a:r>
            <a:r>
              <a:rPr lang="en">
                <a:highlight>
                  <a:srgbClr val="000000"/>
                </a:highlight>
              </a:rPr>
              <a:t> </a:t>
            </a:r>
            <a:endParaRPr>
              <a:highlight>
                <a:srgbClr val="000000"/>
              </a:highlight>
            </a:endParaRPr>
          </a:p>
        </p:txBody>
      </p:sp>
      <p:sp>
        <p:nvSpPr>
          <p:cNvPr id="103" name="Google Shape;103;p16"/>
          <p:cNvSpPr txBox="1"/>
          <p:nvPr/>
        </p:nvSpPr>
        <p:spPr>
          <a:xfrm>
            <a:off x="399250" y="114572"/>
            <a:ext cx="9547200" cy="33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72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666666"/>
              </a:solidFill>
            </a:endParaRPr>
          </a:p>
        </p:txBody>
      </p:sp>
      <p:grpSp>
        <p:nvGrpSpPr>
          <p:cNvPr id="104" name="Google Shape;104;p16"/>
          <p:cNvGrpSpPr/>
          <p:nvPr/>
        </p:nvGrpSpPr>
        <p:grpSpPr>
          <a:xfrm>
            <a:off x="485162" y="1950046"/>
            <a:ext cx="3488168" cy="4498204"/>
            <a:chOff x="566805" y="1664296"/>
            <a:chExt cx="3488168" cy="4498204"/>
          </a:xfrm>
        </p:grpSpPr>
        <p:sp>
          <p:nvSpPr>
            <p:cNvPr id="105" name="Google Shape;105;p16"/>
            <p:cNvSpPr/>
            <p:nvPr/>
          </p:nvSpPr>
          <p:spPr>
            <a:xfrm>
              <a:off x="589673" y="1664300"/>
              <a:ext cx="3465300" cy="4498200"/>
            </a:xfrm>
            <a:prstGeom prst="roundRect">
              <a:avLst>
                <a:gd fmla="val 2601" name="adj"/>
              </a:avLst>
            </a:prstGeom>
            <a:solidFill>
              <a:schemeClr val="lt2"/>
            </a:solidFill>
            <a:ln cap="flat" cmpd="sng" w="22850">
              <a:solidFill>
                <a:srgbClr val="325F7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6"/>
            <p:cNvSpPr/>
            <p:nvPr/>
          </p:nvSpPr>
          <p:spPr>
            <a:xfrm>
              <a:off x="566805" y="1664296"/>
              <a:ext cx="91500" cy="4498200"/>
            </a:xfrm>
            <a:prstGeom prst="roundRect">
              <a:avLst>
                <a:gd fmla="val 31628" name="adj"/>
              </a:avLst>
            </a:prstGeom>
            <a:solidFill>
              <a:srgbClr val="325F7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6"/>
            <p:cNvSpPr/>
            <p:nvPr/>
          </p:nvSpPr>
          <p:spPr>
            <a:xfrm>
              <a:off x="839567" y="2501968"/>
              <a:ext cx="2913600" cy="36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2B4150"/>
                </a:buClr>
                <a:buSzPts val="2250"/>
                <a:buFont typeface="MuseoModerno"/>
                <a:buNone/>
              </a:pPr>
              <a:r>
                <a:rPr b="1" i="0" lang="en" sz="225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Limited Field of View</a:t>
              </a:r>
              <a:endParaRPr b="1" i="0" sz="225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8" name="Google Shape;108;p16"/>
            <p:cNvSpPr/>
            <p:nvPr/>
          </p:nvSpPr>
          <p:spPr>
            <a:xfrm>
              <a:off x="839574" y="3429000"/>
              <a:ext cx="3052200" cy="154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B4150"/>
                </a:buClr>
                <a:buSzPts val="1500"/>
                <a:buFont typeface="Source Sans 3"/>
                <a:buNone/>
              </a:pPr>
              <a:r>
                <a:rPr i="0" lang="en" sz="15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Ultrasonic sensors </a:t>
              </a:r>
              <a:r>
                <a:rPr lang="en" sz="1500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has</a:t>
              </a:r>
              <a:r>
                <a:rPr i="0" lang="en" sz="15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 a </a:t>
              </a:r>
              <a:r>
                <a:rPr b="1" i="0" lang="en" sz="15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narrow detection cone</a:t>
              </a:r>
              <a:r>
                <a:rPr i="0" lang="en" sz="15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, only a partial view of the cyclist's rear surroundings. This can lead to blind spots and missed threats.</a:t>
              </a:r>
              <a:endParaRPr i="0" sz="15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pic>
          <p:nvPicPr>
            <p:cNvPr id="109" name="Google Shape;109;p1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39569" y="1793925"/>
              <a:ext cx="492075" cy="4920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0" name="Google Shape;110;p16"/>
          <p:cNvSpPr/>
          <p:nvPr/>
        </p:nvSpPr>
        <p:spPr>
          <a:xfrm>
            <a:off x="4477243" y="1950050"/>
            <a:ext cx="3465300" cy="4498200"/>
          </a:xfrm>
          <a:prstGeom prst="roundRect">
            <a:avLst>
              <a:gd fmla="val 2601" name="adj"/>
            </a:avLst>
          </a:prstGeom>
          <a:solidFill>
            <a:schemeClr val="lt2"/>
          </a:solidFill>
          <a:ln cap="flat" cmpd="sng" w="22850">
            <a:solidFill>
              <a:srgbClr val="325F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6"/>
          <p:cNvSpPr/>
          <p:nvPr/>
        </p:nvSpPr>
        <p:spPr>
          <a:xfrm>
            <a:off x="4454375" y="1950046"/>
            <a:ext cx="91500" cy="4498200"/>
          </a:xfrm>
          <a:prstGeom prst="roundRect">
            <a:avLst>
              <a:gd fmla="val 31628" name="adj"/>
            </a:avLst>
          </a:prstGeom>
          <a:solidFill>
            <a:srgbClr val="325F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6"/>
          <p:cNvSpPr/>
          <p:nvPr/>
        </p:nvSpPr>
        <p:spPr>
          <a:xfrm>
            <a:off x="4727125" y="2787725"/>
            <a:ext cx="33498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2250"/>
              <a:buFont typeface="MuseoModerno"/>
              <a:buNone/>
            </a:pPr>
            <a:r>
              <a:rPr b="1" lang="en" sz="225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Inability to Differentiate</a:t>
            </a:r>
            <a:endParaRPr b="1" i="0" sz="225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3" name="Google Shape;113;p16"/>
          <p:cNvSpPr/>
          <p:nvPr/>
        </p:nvSpPr>
        <p:spPr>
          <a:xfrm>
            <a:off x="4727118" y="3714750"/>
            <a:ext cx="3052200" cy="15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500"/>
              <a:buFont typeface="Source Sans 3"/>
              <a:buNone/>
            </a:pPr>
            <a:r>
              <a:rPr lang="en" sz="15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current UI only shows that something is nearby, so riders still </a:t>
            </a:r>
            <a:r>
              <a:rPr b="1" lang="en" sz="15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need to look back</a:t>
            </a:r>
            <a:r>
              <a:rPr lang="en" sz="15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to see what it is</a:t>
            </a:r>
            <a:endParaRPr i="0" sz="15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4" name="Google Shape;114;p16"/>
          <p:cNvSpPr/>
          <p:nvPr/>
        </p:nvSpPr>
        <p:spPr>
          <a:xfrm>
            <a:off x="8446455" y="1950050"/>
            <a:ext cx="3465300" cy="4498200"/>
          </a:xfrm>
          <a:prstGeom prst="roundRect">
            <a:avLst>
              <a:gd fmla="val 2601" name="adj"/>
            </a:avLst>
          </a:prstGeom>
          <a:solidFill>
            <a:schemeClr val="lt2"/>
          </a:solidFill>
          <a:ln cap="flat" cmpd="sng" w="22850">
            <a:solidFill>
              <a:srgbClr val="325F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6"/>
          <p:cNvSpPr/>
          <p:nvPr/>
        </p:nvSpPr>
        <p:spPr>
          <a:xfrm>
            <a:off x="8423587" y="1950046"/>
            <a:ext cx="91500" cy="4498200"/>
          </a:xfrm>
          <a:prstGeom prst="roundRect">
            <a:avLst>
              <a:gd fmla="val 31628" name="adj"/>
            </a:avLst>
          </a:prstGeom>
          <a:solidFill>
            <a:srgbClr val="325F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6"/>
          <p:cNvSpPr/>
          <p:nvPr/>
        </p:nvSpPr>
        <p:spPr>
          <a:xfrm>
            <a:off x="8722299" y="2787718"/>
            <a:ext cx="29136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2250"/>
              <a:buFont typeface="MuseoModerno"/>
              <a:buNone/>
            </a:pPr>
            <a:r>
              <a:rPr b="1" lang="en" sz="225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Short Detection Range</a:t>
            </a:r>
            <a:endParaRPr b="1" i="0" sz="225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7" name="Google Shape;117;p16"/>
          <p:cNvSpPr/>
          <p:nvPr/>
        </p:nvSpPr>
        <p:spPr>
          <a:xfrm>
            <a:off x="8696356" y="3714750"/>
            <a:ext cx="3052200" cy="15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1500"/>
              <a:buFont typeface="Source Sans 3"/>
              <a:buNone/>
            </a:pPr>
            <a:r>
              <a:rPr lang="en" sz="15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With a maximum range of only 4m, users have very </a:t>
            </a:r>
            <a:r>
              <a:rPr b="1" lang="en" sz="15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little time to react</a:t>
            </a:r>
            <a:r>
              <a:rPr lang="en" sz="15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to approaching hazards.</a:t>
            </a:r>
            <a:endParaRPr i="0" sz="15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18" name="Google Shape;11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4727125" y="2079675"/>
            <a:ext cx="492075" cy="49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696350" y="2079675"/>
            <a:ext cx="492075" cy="492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0" name="Google Shape;120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66950" y="4958238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8722450" y="5606638"/>
            <a:ext cx="30000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20">
                <a:solidFill>
                  <a:srgbClr val="4B556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HC-SR04 </a:t>
            </a:r>
            <a:r>
              <a:rPr lang="en" sz="1320">
                <a:solidFill>
                  <a:srgbClr val="4B556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Ultrasonic sensors with 4-meter max range</a:t>
            </a:r>
            <a:endParaRPr sz="132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22" name="Google Shape;122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06558" y="5512063"/>
            <a:ext cx="1445367" cy="69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364063" y="5484875"/>
            <a:ext cx="1778325" cy="75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7"/>
          <p:cNvSpPr txBox="1"/>
          <p:nvPr>
            <p:ph type="title"/>
          </p:nvPr>
        </p:nvSpPr>
        <p:spPr>
          <a:xfrm>
            <a:off x="399250" y="356875"/>
            <a:ext cx="9489000" cy="695100"/>
          </a:xfrm>
          <a:prstGeom prst="rect">
            <a:avLst/>
          </a:prstGeom>
        </p:spPr>
        <p:txBody>
          <a:bodyPr anchorCtr="0" anchor="ctr" bIns="121875" lIns="121875" spcFirstLastPara="1" rIns="121875" wrap="square" tIns="1218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chemeClr val="lt1"/>
                </a:highlight>
              </a:rPr>
              <a:t>Objectives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129" name="Google Shape;129;p17"/>
          <p:cNvSpPr txBox="1"/>
          <p:nvPr/>
        </p:nvSpPr>
        <p:spPr>
          <a:xfrm>
            <a:off x="399250" y="114572"/>
            <a:ext cx="9547200" cy="33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72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666666"/>
              </a:solidFill>
            </a:endParaRPr>
          </a:p>
        </p:txBody>
      </p:sp>
      <p:sp>
        <p:nvSpPr>
          <p:cNvPr id="130" name="Google Shape;130;p17"/>
          <p:cNvSpPr/>
          <p:nvPr/>
        </p:nvSpPr>
        <p:spPr>
          <a:xfrm>
            <a:off x="294350" y="1984201"/>
            <a:ext cx="3763500" cy="508200"/>
          </a:xfrm>
          <a:prstGeom prst="roundRect">
            <a:avLst>
              <a:gd fmla="val 48002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1" name="Google Shape;13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23551" y="2025655"/>
            <a:ext cx="305079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/>
          <p:nvPr/>
        </p:nvSpPr>
        <p:spPr>
          <a:xfrm>
            <a:off x="4261325" y="1984251"/>
            <a:ext cx="3763500" cy="508200"/>
          </a:xfrm>
          <a:prstGeom prst="roundRect">
            <a:avLst>
              <a:gd fmla="val 48002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3" name="Google Shape;13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90529" y="2025705"/>
            <a:ext cx="305079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7"/>
          <p:cNvSpPr/>
          <p:nvPr/>
        </p:nvSpPr>
        <p:spPr>
          <a:xfrm>
            <a:off x="8228300" y="1984251"/>
            <a:ext cx="3763500" cy="508200"/>
          </a:xfrm>
          <a:prstGeom prst="roundRect">
            <a:avLst>
              <a:gd fmla="val 48002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540051" y="2575351"/>
            <a:ext cx="3272100" cy="11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50">
                <a:solidFill>
                  <a:srgbClr val="2B415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Enhanced </a:t>
            </a:r>
            <a:endParaRPr b="1" sz="2650">
              <a:solidFill>
                <a:srgbClr val="2B415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50">
                <a:solidFill>
                  <a:srgbClr val="2B415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Hazard Detection</a:t>
            </a:r>
            <a:endParaRPr b="1" sz="265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6" name="Google Shape;136;p17"/>
          <p:cNvSpPr/>
          <p:nvPr/>
        </p:nvSpPr>
        <p:spPr>
          <a:xfrm>
            <a:off x="4507011" y="2634351"/>
            <a:ext cx="32721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2650"/>
              <a:buFont typeface="MuseoModerno"/>
              <a:buNone/>
            </a:pPr>
            <a:r>
              <a:rPr b="1" i="0" lang="en" sz="2650" u="none" cap="none" strike="noStrike">
                <a:solidFill>
                  <a:srgbClr val="2B415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Informative </a:t>
            </a:r>
            <a:endParaRPr b="1" i="0" sz="2650" u="none" cap="none" strike="noStrike">
              <a:solidFill>
                <a:srgbClr val="2B415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2650"/>
              <a:buFont typeface="MuseoModerno"/>
              <a:buNone/>
            </a:pPr>
            <a:r>
              <a:rPr b="1" lang="en" sz="2650">
                <a:solidFill>
                  <a:srgbClr val="2B415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Mirror</a:t>
            </a:r>
            <a:r>
              <a:rPr b="1" i="0" lang="en" sz="2650" u="none" cap="none" strike="noStrike">
                <a:solidFill>
                  <a:srgbClr val="2B415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Interface</a:t>
            </a:r>
            <a:endParaRPr b="1" i="0" sz="2650" u="none" cap="none" strike="noStrike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7" name="Google Shape;137;p17"/>
          <p:cNvSpPr/>
          <p:nvPr/>
        </p:nvSpPr>
        <p:spPr>
          <a:xfrm>
            <a:off x="8473961" y="2634351"/>
            <a:ext cx="32721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2B4150"/>
              </a:buClr>
              <a:buSzPts val="2650"/>
              <a:buFont typeface="MuseoModerno"/>
              <a:buNone/>
            </a:pPr>
            <a:r>
              <a:rPr b="1" lang="en" sz="2650">
                <a:solidFill>
                  <a:srgbClr val="2B415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 'Look-Back' Behaviour</a:t>
            </a:r>
            <a:endParaRPr b="1" i="0" sz="2650" u="none" cap="none" strike="noStrike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38" name="Google Shape;13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888250" y="2085901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7"/>
          <p:cNvSpPr txBox="1"/>
          <p:nvPr/>
        </p:nvSpPr>
        <p:spPr>
          <a:xfrm>
            <a:off x="540050" y="3675759"/>
            <a:ext cx="34083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</a:t>
            </a: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amera for a significantly wider </a:t>
            </a: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field of </a:t>
            </a: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view and visual representation of the hazards, not just their presence.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0" name="Google Shape;140;p17"/>
          <p:cNvSpPr txBox="1"/>
          <p:nvPr/>
        </p:nvSpPr>
        <p:spPr>
          <a:xfrm>
            <a:off x="4390325" y="3666037"/>
            <a:ext cx="3408300" cy="14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Familiar back-mirror interface with comprehensive information of potential hazards 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=&gt; direction, proximity</a:t>
            </a:r>
            <a:endParaRPr sz="15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1" name="Google Shape;141;p17"/>
          <p:cNvSpPr txBox="1"/>
          <p:nvPr/>
        </p:nvSpPr>
        <p:spPr>
          <a:xfrm>
            <a:off x="8405900" y="3699050"/>
            <a:ext cx="34083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 longer need to physically turn their heads, keeping forward focus and stability.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8"/>
          <p:cNvSpPr txBox="1"/>
          <p:nvPr>
            <p:ph type="title"/>
          </p:nvPr>
        </p:nvSpPr>
        <p:spPr>
          <a:xfrm>
            <a:off x="399250" y="356875"/>
            <a:ext cx="9489000" cy="695100"/>
          </a:xfrm>
          <a:prstGeom prst="rect">
            <a:avLst/>
          </a:prstGeom>
        </p:spPr>
        <p:txBody>
          <a:bodyPr anchorCtr="0" anchor="ctr" bIns="121875" lIns="121875" spcFirstLastPara="1" rIns="121875" wrap="square" tIns="1218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chemeClr val="lt1"/>
                </a:highlight>
              </a:rPr>
              <a:t>Design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147" name="Google Shape;147;p18"/>
          <p:cNvSpPr txBox="1"/>
          <p:nvPr/>
        </p:nvSpPr>
        <p:spPr>
          <a:xfrm>
            <a:off x="399250" y="114572"/>
            <a:ext cx="9547200" cy="33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72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666666"/>
              </a:solidFill>
            </a:endParaRPr>
          </a:p>
        </p:txBody>
      </p:sp>
      <p:sp>
        <p:nvSpPr>
          <p:cNvPr id="148" name="Google Shape;148;p18"/>
          <p:cNvSpPr txBox="1"/>
          <p:nvPr/>
        </p:nvSpPr>
        <p:spPr>
          <a:xfrm>
            <a:off x="2058576" y="1139598"/>
            <a:ext cx="8071800" cy="708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Camera + Mirror-like Interface </a:t>
            </a:r>
            <a:endParaRPr b="1" sz="3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>
            <a:off x="1919975" y="1935235"/>
            <a:ext cx="84462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>
                <a:latin typeface="Century Gothic"/>
                <a:ea typeface="Century Gothic"/>
                <a:cs typeface="Century Gothic"/>
                <a:sym typeface="Century Gothic"/>
              </a:rPr>
              <a:t>Therefore, our project integrates camera and an familiar back-mirror AR interface to offer superior rear situational awareness and reduce cognitive burden.</a:t>
            </a:r>
            <a:endParaRPr sz="16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50" name="Google Shape;15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1837" y="2695895"/>
            <a:ext cx="3434325" cy="19324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2801" y="2695899"/>
            <a:ext cx="3434325" cy="19324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01850" y="4736075"/>
            <a:ext cx="3434325" cy="19324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59613" y="4739921"/>
            <a:ext cx="3420689" cy="19248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9"/>
          <p:cNvSpPr txBox="1"/>
          <p:nvPr>
            <p:ph type="title"/>
          </p:nvPr>
        </p:nvSpPr>
        <p:spPr>
          <a:xfrm>
            <a:off x="399250" y="356875"/>
            <a:ext cx="9489000" cy="695100"/>
          </a:xfrm>
          <a:prstGeom prst="rect">
            <a:avLst/>
          </a:prstGeom>
        </p:spPr>
        <p:txBody>
          <a:bodyPr anchorCtr="0" anchor="ctr" bIns="121875" lIns="121875" spcFirstLastPara="1" rIns="121875" wrap="square" tIns="1218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chemeClr val="lt1"/>
                </a:highlight>
              </a:rPr>
              <a:t>Methodology and Approach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159" name="Google Shape;159;p19"/>
          <p:cNvSpPr txBox="1"/>
          <p:nvPr/>
        </p:nvSpPr>
        <p:spPr>
          <a:xfrm>
            <a:off x="5003650" y="1201875"/>
            <a:ext cx="6406800" cy="33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72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Century Gothic"/>
                <a:ea typeface="Century Gothic"/>
                <a:cs typeface="Century Gothic"/>
                <a:sym typeface="Century Gothic"/>
              </a:rPr>
              <a:t>RQ1</a:t>
            </a:r>
            <a:r>
              <a:rPr lang="en">
                <a:latin typeface="Century Gothic"/>
                <a:ea typeface="Century Gothic"/>
                <a:cs typeface="Century Gothic"/>
                <a:sym typeface="Century Gothic"/>
              </a:rPr>
              <a:t>: </a:t>
            </a:r>
            <a:r>
              <a:rPr lang="en" sz="1500">
                <a:latin typeface="Century Gothic"/>
                <a:ea typeface="Century Gothic"/>
                <a:cs typeface="Century Gothic"/>
                <a:sym typeface="Century Gothic"/>
              </a:rPr>
              <a:t>How do different AR rearview mirror visualisation designs influence cyclists’ perception of </a:t>
            </a:r>
            <a:r>
              <a:rPr b="1" lang="en" sz="1500">
                <a:latin typeface="Century Gothic"/>
                <a:ea typeface="Century Gothic"/>
                <a:cs typeface="Century Gothic"/>
                <a:sym typeface="Century Gothic"/>
              </a:rPr>
              <a:t>rear hazards</a:t>
            </a:r>
            <a:r>
              <a:rPr lang="en" sz="1500">
                <a:latin typeface="Century Gothic"/>
                <a:ea typeface="Century Gothic"/>
                <a:cs typeface="Century Gothic"/>
                <a:sym typeface="Century Gothic"/>
              </a:rPr>
              <a:t> in a simulated </a:t>
            </a:r>
            <a:r>
              <a:rPr b="1" lang="en" sz="1500">
                <a:latin typeface="Century Gothic"/>
                <a:ea typeface="Century Gothic"/>
                <a:cs typeface="Century Gothic"/>
                <a:sym typeface="Century Gothic"/>
              </a:rPr>
              <a:t>virtual reality environment?</a:t>
            </a:r>
            <a:endParaRPr b="1" sz="15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0" name="Google Shape;160;p19"/>
          <p:cNvSpPr txBox="1"/>
          <p:nvPr/>
        </p:nvSpPr>
        <p:spPr>
          <a:xfrm>
            <a:off x="562112" y="2812896"/>
            <a:ext cx="3636900" cy="5232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System</a:t>
            </a:r>
            <a:endParaRPr b="1" sz="22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1" name="Google Shape;161;p19"/>
          <p:cNvSpPr txBox="1"/>
          <p:nvPr/>
        </p:nvSpPr>
        <p:spPr>
          <a:xfrm>
            <a:off x="5003638" y="2812908"/>
            <a:ext cx="6406800" cy="5232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UI Design </a:t>
            </a:r>
            <a:r>
              <a:rPr lang="en" sz="22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 Comparison Needed!</a:t>
            </a:r>
            <a:endParaRPr sz="22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62" name="Google Shape;16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7338" y="3250909"/>
            <a:ext cx="2566450" cy="160407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/>
        </p:nvSpPr>
        <p:spPr>
          <a:xfrm>
            <a:off x="562100" y="5097025"/>
            <a:ext cx="44415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2860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rage"/>
              <a:buChar char="●"/>
            </a:pPr>
            <a:r>
              <a:rPr b="1" lang="en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AR</a:t>
            </a:r>
            <a:r>
              <a:rPr lang="en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 </a:t>
            </a:r>
            <a:r>
              <a:rPr lang="en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Microsoft Hololens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2860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rage"/>
              <a:buChar char="●"/>
            </a:pPr>
            <a:r>
              <a:rPr b="1" lang="en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Camera</a:t>
            </a:r>
            <a:r>
              <a:rPr lang="en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 GoPro, BIKET, SEWEEK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2860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rage"/>
              <a:buChar char="●"/>
            </a:pPr>
            <a:r>
              <a:rPr b="1" lang="en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App</a:t>
            </a:r>
            <a:r>
              <a:rPr lang="en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 Unity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164" name="Google Shape;164;p19"/>
          <p:cNvGrpSpPr/>
          <p:nvPr/>
        </p:nvGrpSpPr>
        <p:grpSpPr>
          <a:xfrm>
            <a:off x="5003638" y="3460034"/>
            <a:ext cx="6406800" cy="1037676"/>
            <a:chOff x="5135213" y="3101688"/>
            <a:chExt cx="6406800" cy="1133700"/>
          </a:xfrm>
        </p:grpSpPr>
        <p:sp>
          <p:nvSpPr>
            <p:cNvPr id="165" name="Google Shape;165;p19"/>
            <p:cNvSpPr/>
            <p:nvPr/>
          </p:nvSpPr>
          <p:spPr>
            <a:xfrm>
              <a:off x="5135213" y="3101688"/>
              <a:ext cx="6406800" cy="1133700"/>
            </a:xfrm>
            <a:prstGeom prst="roundRect">
              <a:avLst>
                <a:gd fmla="val 1933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9"/>
            <p:cNvSpPr/>
            <p:nvPr/>
          </p:nvSpPr>
          <p:spPr>
            <a:xfrm>
              <a:off x="5281183" y="3247659"/>
              <a:ext cx="1825800" cy="22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MuseoModerno"/>
                <a:buNone/>
              </a:pPr>
              <a:r>
                <a:rPr b="1" lang="en" sz="1600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Fixed UI</a:t>
              </a:r>
              <a:endParaRPr b="1" i="0" sz="1600" u="none" cap="none" strike="noStrike"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7" name="Google Shape;167;p19"/>
            <p:cNvSpPr/>
            <p:nvPr/>
          </p:nvSpPr>
          <p:spPr>
            <a:xfrm>
              <a:off x="5281183" y="3621873"/>
              <a:ext cx="6114900" cy="46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50"/>
                <a:buFont typeface="Source Sans 3"/>
                <a:buNone/>
              </a:pPr>
              <a:r>
                <a:rPr i="0" lang="en" sz="1350" u="none" cap="none" strike="noStrike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Visual cues relative to handlebars, dynamically moving with perspective. </a:t>
              </a:r>
              <a:endParaRPr i="0" sz="135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50"/>
                <a:buFont typeface="Source Sans 3"/>
                <a:buNone/>
              </a:pPr>
              <a:r>
                <a:rPr i="0" lang="en" sz="1350" u="none" cap="none" strike="noStrike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Color and size indicate proximity.</a:t>
              </a:r>
              <a:endParaRPr i="0" sz="1350" u="none" cap="none" strike="noStrike"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168" name="Google Shape;168;p19"/>
          <p:cNvGrpSpPr/>
          <p:nvPr/>
        </p:nvGrpSpPr>
        <p:grpSpPr>
          <a:xfrm>
            <a:off x="5003638" y="4543909"/>
            <a:ext cx="6406800" cy="1037676"/>
            <a:chOff x="5135213" y="3101688"/>
            <a:chExt cx="6406800" cy="1133700"/>
          </a:xfrm>
        </p:grpSpPr>
        <p:sp>
          <p:nvSpPr>
            <p:cNvPr id="169" name="Google Shape;169;p19"/>
            <p:cNvSpPr/>
            <p:nvPr/>
          </p:nvSpPr>
          <p:spPr>
            <a:xfrm>
              <a:off x="5135213" y="3101688"/>
              <a:ext cx="6406800" cy="1133700"/>
            </a:xfrm>
            <a:prstGeom prst="roundRect">
              <a:avLst>
                <a:gd fmla="val 1933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9"/>
            <p:cNvSpPr/>
            <p:nvPr/>
          </p:nvSpPr>
          <p:spPr>
            <a:xfrm>
              <a:off x="5281183" y="3247659"/>
              <a:ext cx="1825800" cy="22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MuseoModerno"/>
                <a:buNone/>
              </a:pPr>
              <a:r>
                <a:rPr b="1" lang="en" sz="1600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Anchored UI</a:t>
              </a:r>
              <a:endParaRPr b="1" i="0" sz="1600" u="none" cap="none" strike="noStrike"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1" name="Google Shape;171;p19"/>
            <p:cNvSpPr/>
            <p:nvPr/>
          </p:nvSpPr>
          <p:spPr>
            <a:xfrm>
              <a:off x="5281183" y="3621873"/>
              <a:ext cx="6114900" cy="46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50"/>
                <a:buFont typeface="Source Sans 3"/>
                <a:buNone/>
              </a:pPr>
              <a:r>
                <a:rPr lang="en" sz="1350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Cues fixed on display.</a:t>
              </a:r>
              <a:endParaRPr sz="135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50"/>
                <a:buFont typeface="Source Sans 3"/>
                <a:buNone/>
              </a:pPr>
              <a:r>
                <a:rPr lang="en" sz="1350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semi-transparent by default</a:t>
              </a:r>
              <a:r>
                <a:rPr lang="en" sz="1350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, </a:t>
              </a:r>
              <a:r>
                <a:rPr lang="en" sz="1350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becoming opaque upon hazard detection.</a:t>
              </a:r>
              <a:endParaRPr i="0" sz="1350" u="none" cap="none" strike="noStrike"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172" name="Google Shape;172;p19"/>
          <p:cNvGrpSpPr/>
          <p:nvPr/>
        </p:nvGrpSpPr>
        <p:grpSpPr>
          <a:xfrm>
            <a:off x="5003638" y="5669809"/>
            <a:ext cx="6406800" cy="1037676"/>
            <a:chOff x="5135213" y="3101688"/>
            <a:chExt cx="6406800" cy="1133700"/>
          </a:xfrm>
        </p:grpSpPr>
        <p:sp>
          <p:nvSpPr>
            <p:cNvPr id="173" name="Google Shape;173;p19"/>
            <p:cNvSpPr/>
            <p:nvPr/>
          </p:nvSpPr>
          <p:spPr>
            <a:xfrm>
              <a:off x="5135213" y="3101688"/>
              <a:ext cx="6406800" cy="1133700"/>
            </a:xfrm>
            <a:prstGeom prst="roundRect">
              <a:avLst>
                <a:gd fmla="val 1933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9"/>
            <p:cNvSpPr/>
            <p:nvPr/>
          </p:nvSpPr>
          <p:spPr>
            <a:xfrm>
              <a:off x="5281183" y="3247659"/>
              <a:ext cx="1825800" cy="22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MuseoModerno"/>
                <a:buNone/>
              </a:pPr>
              <a:r>
                <a:rPr b="1" lang="en" sz="1600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Variance UI</a:t>
              </a:r>
              <a:endParaRPr b="1" i="0" sz="1600" u="none" cap="none" strike="noStrike"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5" name="Google Shape;175;p19"/>
            <p:cNvSpPr/>
            <p:nvPr/>
          </p:nvSpPr>
          <p:spPr>
            <a:xfrm>
              <a:off x="5281183" y="3621873"/>
              <a:ext cx="6114900" cy="46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50"/>
                <a:buFont typeface="Source Sans 3"/>
                <a:buNone/>
              </a:pPr>
              <a:r>
                <a:rPr lang="en" sz="135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alternative visual styling (shapes, patterns, animations). </a:t>
              </a:r>
              <a:endParaRPr sz="135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50"/>
                <a:buFont typeface="Source Sans 3"/>
                <a:buNone/>
              </a:pPr>
              <a:r>
                <a:rPr lang="en" sz="135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No transparency adjustment needed.</a:t>
              </a:r>
              <a:endParaRPr sz="1350"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50"/>
                <a:buFont typeface="Source Sans 3"/>
                <a:buNone/>
              </a:pPr>
              <a:r>
                <a:t/>
              </a:r>
              <a:endParaRPr sz="135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176" name="Google Shape;176;p19"/>
          <p:cNvSpPr txBox="1"/>
          <p:nvPr/>
        </p:nvSpPr>
        <p:spPr>
          <a:xfrm>
            <a:off x="5003650" y="1805850"/>
            <a:ext cx="64068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Century Gothic"/>
                <a:ea typeface="Century Gothic"/>
                <a:cs typeface="Century Gothic"/>
                <a:sym typeface="Century Gothic"/>
              </a:rPr>
              <a:t>RQ2:</a:t>
            </a:r>
            <a:r>
              <a:rPr b="1" lang="en"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" sz="1500">
                <a:latin typeface="Century Gothic"/>
                <a:ea typeface="Century Gothic"/>
                <a:cs typeface="Century Gothic"/>
                <a:sym typeface="Century Gothic"/>
              </a:rPr>
              <a:t>How does an AR rearview mirror-style interface influence cyclists’ perception of </a:t>
            </a:r>
            <a:r>
              <a:rPr b="1" lang="en" sz="1500">
                <a:latin typeface="Century Gothic"/>
                <a:ea typeface="Century Gothic"/>
                <a:cs typeface="Century Gothic"/>
                <a:sym typeface="Century Gothic"/>
              </a:rPr>
              <a:t>overtaking motorcycles</a:t>
            </a:r>
            <a:r>
              <a:rPr lang="en" sz="1500">
                <a:latin typeface="Century Gothic"/>
                <a:ea typeface="Century Gothic"/>
                <a:cs typeface="Century Gothic"/>
                <a:sym typeface="Century Gothic"/>
              </a:rPr>
              <a:t> compared to </a:t>
            </a:r>
            <a:r>
              <a:rPr lang="en" sz="1500">
                <a:latin typeface="Century Gothic"/>
                <a:ea typeface="Century Gothic"/>
                <a:cs typeface="Century Gothic"/>
                <a:sym typeface="Century Gothic"/>
              </a:rPr>
              <a:t>simple directional rear hazard warnings</a:t>
            </a:r>
            <a:r>
              <a:rPr lang="en" sz="1500">
                <a:latin typeface="Century Gothic"/>
                <a:ea typeface="Century Gothic"/>
                <a:cs typeface="Century Gothic"/>
                <a:sym typeface="Century Gothic"/>
              </a:rPr>
              <a:t>?</a:t>
            </a:r>
            <a:endParaRPr sz="15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7" name="Google Shape;177;p19"/>
          <p:cNvSpPr txBox="1"/>
          <p:nvPr/>
        </p:nvSpPr>
        <p:spPr>
          <a:xfrm>
            <a:off x="562125" y="1109025"/>
            <a:ext cx="3636900" cy="1477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Research Questions</a:t>
            </a:r>
            <a:endParaRPr b="1" sz="22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0"/>
          <p:cNvSpPr txBox="1"/>
          <p:nvPr>
            <p:ph type="title"/>
          </p:nvPr>
        </p:nvSpPr>
        <p:spPr>
          <a:xfrm>
            <a:off x="399250" y="356875"/>
            <a:ext cx="9489000" cy="695100"/>
          </a:xfrm>
          <a:prstGeom prst="rect">
            <a:avLst/>
          </a:prstGeom>
        </p:spPr>
        <p:txBody>
          <a:bodyPr anchorCtr="0" anchor="ctr" bIns="121875" lIns="121875" spcFirstLastPara="1" rIns="121875" wrap="square" tIns="1218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chemeClr val="lt1"/>
                </a:highlight>
              </a:rPr>
              <a:t>Literature Review</a:t>
            </a:r>
            <a:endParaRPr>
              <a:highlight>
                <a:schemeClr val="lt1"/>
              </a:highlight>
            </a:endParaRPr>
          </a:p>
        </p:txBody>
      </p:sp>
      <p:grpSp>
        <p:nvGrpSpPr>
          <p:cNvPr id="183" name="Google Shape;183;p20"/>
          <p:cNvGrpSpPr/>
          <p:nvPr/>
        </p:nvGrpSpPr>
        <p:grpSpPr>
          <a:xfrm>
            <a:off x="480850" y="1233200"/>
            <a:ext cx="11227276" cy="953102"/>
            <a:chOff x="5135220" y="3101686"/>
            <a:chExt cx="6406800" cy="1041300"/>
          </a:xfrm>
        </p:grpSpPr>
        <p:sp>
          <p:nvSpPr>
            <p:cNvPr id="184" name="Google Shape;184;p20"/>
            <p:cNvSpPr/>
            <p:nvPr/>
          </p:nvSpPr>
          <p:spPr>
            <a:xfrm>
              <a:off x="5135220" y="3101686"/>
              <a:ext cx="6406800" cy="1041300"/>
            </a:xfrm>
            <a:prstGeom prst="roundRect">
              <a:avLst>
                <a:gd fmla="val 1933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20"/>
            <p:cNvSpPr/>
            <p:nvPr/>
          </p:nvSpPr>
          <p:spPr>
            <a:xfrm>
              <a:off x="5281187" y="3247649"/>
              <a:ext cx="5724900" cy="22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1. </a:t>
              </a:r>
              <a:r>
                <a:rPr b="1" lang="en" sz="1600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Safety Sense: Enhancing Urban Cyclists’ Perceived Safety during Motorcycle…</a:t>
              </a:r>
              <a:r>
                <a:rPr b="1" lang="en" sz="1600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 </a:t>
              </a:r>
              <a:endParaRPr b="1" i="0" sz="1600" u="none" cap="none" strike="noStrike"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86" name="Google Shape;186;p20"/>
            <p:cNvSpPr/>
            <p:nvPr/>
          </p:nvSpPr>
          <p:spPr>
            <a:xfrm>
              <a:off x="5281176" y="3571835"/>
              <a:ext cx="6114900" cy="46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50"/>
                <a:buFont typeface="Source Sans 3"/>
                <a:buNone/>
              </a:pPr>
              <a:r>
                <a:rPr lang="en" sz="1350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Our project directly addresses the limitations of "Safety Sense.", by enhancing existing UI and possibly sensing system.</a:t>
              </a:r>
              <a:endParaRPr sz="135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50"/>
                <a:buFont typeface="Source Sans 3"/>
                <a:buNone/>
              </a:pPr>
              <a:r>
                <a:rPr i="1" lang="en" sz="1350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(Huang, Y.-T. CHI 2025)</a:t>
              </a:r>
              <a:endParaRPr i="1" sz="135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187" name="Google Shape;187;p20"/>
          <p:cNvGrpSpPr/>
          <p:nvPr/>
        </p:nvGrpSpPr>
        <p:grpSpPr>
          <a:xfrm>
            <a:off x="480851" y="4330348"/>
            <a:ext cx="11227276" cy="953102"/>
            <a:chOff x="5135213" y="3101688"/>
            <a:chExt cx="6406800" cy="1133700"/>
          </a:xfrm>
        </p:grpSpPr>
        <p:sp>
          <p:nvSpPr>
            <p:cNvPr id="188" name="Google Shape;188;p20"/>
            <p:cNvSpPr/>
            <p:nvPr/>
          </p:nvSpPr>
          <p:spPr>
            <a:xfrm>
              <a:off x="5135213" y="3101688"/>
              <a:ext cx="6406800" cy="1133700"/>
            </a:xfrm>
            <a:prstGeom prst="roundRect">
              <a:avLst>
                <a:gd fmla="val 1933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20"/>
            <p:cNvSpPr/>
            <p:nvPr/>
          </p:nvSpPr>
          <p:spPr>
            <a:xfrm>
              <a:off x="5281187" y="3247649"/>
              <a:ext cx="5724900" cy="22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4. Bicycle crash contributory factors: A systematic review</a:t>
              </a:r>
              <a:endParaRPr b="1" i="0" sz="1600" u="none" cap="none" strike="noStrike"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90" name="Google Shape;190;p20"/>
            <p:cNvSpPr/>
            <p:nvPr/>
          </p:nvSpPr>
          <p:spPr>
            <a:xfrm>
              <a:off x="5281183" y="3610979"/>
              <a:ext cx="6114900" cy="46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50"/>
                <a:buFont typeface="Source Sans 3"/>
                <a:buNone/>
              </a:pPr>
              <a:r>
                <a:rPr lang="en" sz="135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This paper addresses that </a:t>
              </a:r>
              <a:r>
                <a:rPr lang="en" sz="135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biker’s inattentiveness is one of a major crash causes, which </a:t>
              </a:r>
              <a:r>
                <a:rPr lang="en" sz="135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validates </a:t>
              </a:r>
              <a:r>
                <a:rPr lang="en" sz="135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our motivation. </a:t>
              </a:r>
              <a:endParaRPr sz="135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50"/>
                <a:buFont typeface="Source Sans 3"/>
                <a:buNone/>
              </a:pPr>
              <a:r>
                <a:rPr lang="en" sz="135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(Salmon, P. M. Safety Science 2022)</a:t>
              </a:r>
              <a:endParaRPr i="0" sz="135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191" name="Google Shape;191;p20"/>
          <p:cNvGrpSpPr/>
          <p:nvPr/>
        </p:nvGrpSpPr>
        <p:grpSpPr>
          <a:xfrm>
            <a:off x="480851" y="3297965"/>
            <a:ext cx="11227276" cy="953102"/>
            <a:chOff x="5135213" y="3101688"/>
            <a:chExt cx="6406800" cy="1133700"/>
          </a:xfrm>
        </p:grpSpPr>
        <p:sp>
          <p:nvSpPr>
            <p:cNvPr id="192" name="Google Shape;192;p20"/>
            <p:cNvSpPr/>
            <p:nvPr/>
          </p:nvSpPr>
          <p:spPr>
            <a:xfrm>
              <a:off x="5135213" y="3101688"/>
              <a:ext cx="6406800" cy="1133700"/>
            </a:xfrm>
            <a:prstGeom prst="roundRect">
              <a:avLst>
                <a:gd fmla="val 1933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20"/>
            <p:cNvSpPr/>
            <p:nvPr/>
          </p:nvSpPr>
          <p:spPr>
            <a:xfrm>
              <a:off x="5281184" y="3247643"/>
              <a:ext cx="6114900" cy="22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3</a:t>
              </a:r>
              <a:r>
                <a:rPr b="1" lang="en" sz="1600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. </a:t>
              </a:r>
              <a:r>
                <a:rPr b="1" lang="en" sz="1600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The Impact of Augmented Reality-Based Visual Alerts on the Safety and Experience of E-bike riders</a:t>
              </a:r>
              <a:endParaRPr b="1" i="0" sz="1600" u="none" cap="none" strike="noStrike"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94" name="Google Shape;194;p20"/>
            <p:cNvSpPr/>
            <p:nvPr/>
          </p:nvSpPr>
          <p:spPr>
            <a:xfrm>
              <a:off x="5281183" y="3610979"/>
              <a:ext cx="6114900" cy="46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50"/>
                <a:buFont typeface="Source Sans 3"/>
                <a:buNone/>
              </a:pPr>
              <a:r>
                <a:rPr lang="en" sz="135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This study used a VR cycling simulator to test different AR visual alerts, giving us </a:t>
              </a:r>
              <a:r>
                <a:rPr b="1" lang="en" sz="135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useful test conditions</a:t>
              </a:r>
              <a:r>
                <a:rPr lang="en" sz="135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 such as reaction time, perceived safety, and cognitive load </a:t>
              </a:r>
              <a:r>
                <a:rPr lang="en" sz="135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(</a:t>
              </a:r>
              <a:r>
                <a:rPr lang="en" sz="135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Junyao Fan et al. Cross Cultural Design HCII</a:t>
              </a:r>
              <a:r>
                <a:rPr lang="en" sz="135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 2025)</a:t>
              </a:r>
              <a:endParaRPr i="0" sz="135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195" name="Google Shape;195;p20"/>
          <p:cNvGrpSpPr/>
          <p:nvPr/>
        </p:nvGrpSpPr>
        <p:grpSpPr>
          <a:xfrm>
            <a:off x="480826" y="2265583"/>
            <a:ext cx="11227276" cy="953102"/>
            <a:chOff x="5135213" y="3101688"/>
            <a:chExt cx="6406800" cy="1133700"/>
          </a:xfrm>
        </p:grpSpPr>
        <p:sp>
          <p:nvSpPr>
            <p:cNvPr id="196" name="Google Shape;196;p20"/>
            <p:cNvSpPr/>
            <p:nvPr/>
          </p:nvSpPr>
          <p:spPr>
            <a:xfrm>
              <a:off x="5135213" y="3101688"/>
              <a:ext cx="6406800" cy="1133700"/>
            </a:xfrm>
            <a:prstGeom prst="roundRect">
              <a:avLst>
                <a:gd fmla="val 1933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20"/>
            <p:cNvSpPr/>
            <p:nvPr/>
          </p:nvSpPr>
          <p:spPr>
            <a:xfrm>
              <a:off x="5281187" y="3247649"/>
              <a:ext cx="5724900" cy="22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2</a:t>
              </a:r>
              <a:r>
                <a:rPr b="1" lang="en" sz="1600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. </a:t>
              </a:r>
              <a:r>
                <a:rPr b="1" lang="en" sz="1600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ProxiCycle: Passively Mapping Cyclist Safety Using Smart Handlebars for Near-Miss Detection</a:t>
              </a:r>
              <a:endParaRPr b="1" i="0" sz="1600" u="none" cap="none" strike="noStrike"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98" name="Google Shape;198;p20"/>
            <p:cNvSpPr/>
            <p:nvPr/>
          </p:nvSpPr>
          <p:spPr>
            <a:xfrm>
              <a:off x="5281162" y="3576699"/>
              <a:ext cx="6114900" cy="46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50"/>
                <a:buFont typeface="Source Sans 3"/>
                <a:buNone/>
              </a:pPr>
              <a:r>
                <a:rPr lang="en" sz="135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This paper collects ‘close-pass’ data between car and </a:t>
              </a:r>
              <a:r>
                <a:rPr lang="en" sz="135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bicycle</a:t>
              </a:r>
              <a:r>
                <a:rPr lang="en" sz="135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 to </a:t>
              </a:r>
              <a:r>
                <a:rPr b="1" lang="en" sz="135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build a safety map</a:t>
              </a:r>
              <a:r>
                <a:rPr lang="en" sz="135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. It’s a </a:t>
              </a:r>
              <a:r>
                <a:rPr b="1" lang="en" sz="135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macro-level</a:t>
              </a:r>
              <a:r>
                <a:rPr lang="en" sz="135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 data for long-term route, whereas ours is a </a:t>
              </a:r>
              <a:r>
                <a:rPr b="1" lang="en" sz="135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micro-level </a:t>
              </a:r>
              <a:r>
                <a:rPr lang="en" sz="135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system for immediate hazard avoidance </a:t>
              </a:r>
              <a:r>
                <a:rPr lang="en" sz="135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(Joseph Breda et al. CHI 2025)</a:t>
              </a:r>
              <a:endParaRPr i="0" sz="135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199" name="Google Shape;199;p20"/>
          <p:cNvGrpSpPr/>
          <p:nvPr/>
        </p:nvGrpSpPr>
        <p:grpSpPr>
          <a:xfrm>
            <a:off x="480826" y="5362730"/>
            <a:ext cx="11227276" cy="953102"/>
            <a:chOff x="5135213" y="3101688"/>
            <a:chExt cx="6406800" cy="1133700"/>
          </a:xfrm>
        </p:grpSpPr>
        <p:sp>
          <p:nvSpPr>
            <p:cNvPr id="200" name="Google Shape;200;p20"/>
            <p:cNvSpPr/>
            <p:nvPr/>
          </p:nvSpPr>
          <p:spPr>
            <a:xfrm>
              <a:off x="5135213" y="3101688"/>
              <a:ext cx="6406800" cy="1133700"/>
            </a:xfrm>
            <a:prstGeom prst="roundRect">
              <a:avLst>
                <a:gd fmla="val 1933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20"/>
            <p:cNvSpPr/>
            <p:nvPr/>
          </p:nvSpPr>
          <p:spPr>
            <a:xfrm>
              <a:off x="5281187" y="3247649"/>
              <a:ext cx="5724900" cy="22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5. </a:t>
              </a:r>
              <a:r>
                <a:rPr b="1" lang="en" sz="1600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Safety Performance Assessment via Virtual Simulation of V2X Warning Triggers…</a:t>
              </a:r>
              <a:endParaRPr b="1" i="0" sz="1600" u="none" cap="none" strike="noStrike"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02" name="Google Shape;202;p20"/>
            <p:cNvSpPr/>
            <p:nvPr/>
          </p:nvSpPr>
          <p:spPr>
            <a:xfrm>
              <a:off x="5281183" y="3606562"/>
              <a:ext cx="6114900" cy="46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50"/>
                <a:buFont typeface="Source Sans 3"/>
                <a:buNone/>
              </a:pPr>
              <a:r>
                <a:rPr lang="en" sz="135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The paper provides cyclist behavioral model for evaluating </a:t>
              </a:r>
              <a:r>
                <a:rPr lang="en" sz="135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virtual safety simulation</a:t>
              </a:r>
              <a:endParaRPr sz="135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50"/>
                <a:buFont typeface="Source Sans 3"/>
                <a:buNone/>
              </a:pPr>
              <a:r>
                <a:rPr lang="en" sz="135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(</a:t>
              </a:r>
              <a:r>
                <a:rPr lang="en" sz="135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Lars Schories et al</a:t>
              </a:r>
              <a:r>
                <a:rPr lang="en" sz="135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. </a:t>
              </a:r>
              <a:r>
                <a:rPr lang="en" sz="135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Sustainability </a:t>
              </a:r>
              <a:r>
                <a:rPr lang="en" sz="135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2024)</a:t>
              </a:r>
              <a:endParaRPr i="0" sz="135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1"/>
          <p:cNvSpPr txBox="1"/>
          <p:nvPr>
            <p:ph type="title"/>
          </p:nvPr>
        </p:nvSpPr>
        <p:spPr>
          <a:xfrm>
            <a:off x="399250" y="356875"/>
            <a:ext cx="9489000" cy="695100"/>
          </a:xfrm>
          <a:prstGeom prst="rect">
            <a:avLst/>
          </a:prstGeom>
        </p:spPr>
        <p:txBody>
          <a:bodyPr anchorCtr="0" anchor="ctr" bIns="121875" lIns="121875" spcFirstLastPara="1" rIns="121875" wrap="square" tIns="1218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chemeClr val="lt1"/>
                </a:highlight>
              </a:rPr>
              <a:t>Contribution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259800" y="2524500"/>
            <a:ext cx="3763500" cy="317100"/>
          </a:xfrm>
          <a:prstGeom prst="roundRect">
            <a:avLst>
              <a:gd fmla="val 48002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1"/>
          <p:cNvSpPr txBox="1"/>
          <p:nvPr/>
        </p:nvSpPr>
        <p:spPr>
          <a:xfrm>
            <a:off x="505501" y="2871451"/>
            <a:ext cx="3272100" cy="5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50">
                <a:solidFill>
                  <a:srgbClr val="2B415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New AR Interface</a:t>
            </a:r>
            <a:endParaRPr b="1" sz="265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505500" y="3463959"/>
            <a:ext cx="34083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Evaluation of an AR rearview </a:t>
            </a:r>
            <a:r>
              <a:rPr b="1"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mirror interfaces</a:t>
            </a: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tailored for cyclists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4222200" y="2524500"/>
            <a:ext cx="3763500" cy="317100"/>
          </a:xfrm>
          <a:prstGeom prst="roundRect">
            <a:avLst>
              <a:gd fmla="val 48002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4467901" y="2871451"/>
            <a:ext cx="3272100" cy="5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50">
                <a:solidFill>
                  <a:srgbClr val="2B415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Sensing System</a:t>
            </a:r>
            <a:endParaRPr b="1" sz="265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4467900" y="3463959"/>
            <a:ext cx="34083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Integration of </a:t>
            </a:r>
            <a:r>
              <a:rPr b="1"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camera </a:t>
            </a: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with object detection/periodic display strategy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descr="preencoded.png" id="214" name="Google Shape;21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60575" y="2513026"/>
            <a:ext cx="36195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5" name="Google Shape;21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61075" y="2513025"/>
            <a:ext cx="28575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1"/>
          <p:cNvSpPr/>
          <p:nvPr/>
        </p:nvSpPr>
        <p:spPr>
          <a:xfrm>
            <a:off x="8184600" y="2524500"/>
            <a:ext cx="3763500" cy="317100"/>
          </a:xfrm>
          <a:prstGeom prst="roundRect">
            <a:avLst>
              <a:gd fmla="val 48002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1"/>
          <p:cNvSpPr txBox="1"/>
          <p:nvPr/>
        </p:nvSpPr>
        <p:spPr>
          <a:xfrm>
            <a:off x="8430301" y="2871451"/>
            <a:ext cx="3272100" cy="5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50">
                <a:solidFill>
                  <a:srgbClr val="2B415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Cognitive Load</a:t>
            </a:r>
            <a:endParaRPr b="1" sz="265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8" name="Google Shape;218;p21"/>
          <p:cNvSpPr txBox="1"/>
          <p:nvPr/>
        </p:nvSpPr>
        <p:spPr>
          <a:xfrm>
            <a:off x="8430300" y="3463959"/>
            <a:ext cx="34083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By eliminating the need for </a:t>
            </a:r>
            <a:r>
              <a:rPr b="1"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‘Look Back’ head turns</a:t>
            </a: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 we anticipate cyclists to maintain focus on the road ahead.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19" name="Google Shape;219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913950" y="2530650"/>
            <a:ext cx="3048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2"/>
          <p:cNvSpPr txBox="1"/>
          <p:nvPr>
            <p:ph type="title"/>
          </p:nvPr>
        </p:nvSpPr>
        <p:spPr>
          <a:xfrm>
            <a:off x="140600" y="0"/>
            <a:ext cx="9489000" cy="695100"/>
          </a:xfrm>
          <a:prstGeom prst="rect">
            <a:avLst/>
          </a:prstGeom>
        </p:spPr>
        <p:txBody>
          <a:bodyPr anchorCtr="0" anchor="ctr" bIns="121875" lIns="121875" spcFirstLastPara="1" rIns="121875" wrap="square" tIns="1218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chemeClr val="lt1"/>
                </a:highlight>
              </a:rPr>
              <a:t>Tentative Schedule</a:t>
            </a:r>
            <a:endParaRPr>
              <a:highlight>
                <a:schemeClr val="lt1"/>
              </a:highlight>
            </a:endParaRPr>
          </a:p>
        </p:txBody>
      </p:sp>
      <p:graphicFrame>
        <p:nvGraphicFramePr>
          <p:cNvPr id="225" name="Google Shape;225;p22"/>
          <p:cNvGraphicFramePr/>
          <p:nvPr/>
        </p:nvGraphicFramePr>
        <p:xfrm>
          <a:off x="1884576" y="845725"/>
          <a:ext cx="3000000" cy="3000000"/>
        </p:xfrm>
        <a:graphic>
          <a:graphicData uri="http://schemas.openxmlformats.org/drawingml/2006/table">
            <a:tbl>
              <a:tblPr firstCol="1" firstRow="1">
                <a:noFill/>
                <a:tableStyleId>{84F0B828-E0A1-498B-8E98-7A6E53CFBC92}</a:tableStyleId>
              </a:tblPr>
              <a:tblGrid>
                <a:gridCol w="757800"/>
                <a:gridCol w="1536100"/>
                <a:gridCol w="7088450"/>
              </a:tblGrid>
              <a:tr h="438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Week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Period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Activity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7474F"/>
                    </a:solidFill>
                  </a:tcPr>
                </a:tc>
              </a:tr>
              <a:tr h="438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9/29 - 10/5</a:t>
                      </a:r>
                      <a:endParaRPr sz="16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en" sz="160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Finalise research questions and scope, basic system design</a:t>
                      </a:r>
                      <a:endParaRPr sz="16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11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10/6 - 10/12</a:t>
                      </a:r>
                      <a:endParaRPr sz="16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Finalise the detailed design and visualisation guidelines for the AR rearview mirror interface. (Size, color, hologram effects, information display methods, etc.)</a:t>
                      </a:r>
                      <a:endParaRPr sz="16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10/13 - 10/19</a:t>
                      </a:r>
                      <a:endParaRPr sz="16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Development of Sensor Integration and Data Processing Modules and internal testing of sensor reliability</a:t>
                      </a:r>
                      <a:endParaRPr sz="16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72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10/20 - 10/26</a:t>
                      </a:r>
                      <a:endParaRPr sz="16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AR Interface Development (Visualisation); Hazard Detection and Feedback System Integratio</a:t>
                      </a:r>
                      <a:r>
                        <a:rPr lang="en" sz="1600"/>
                        <a:t>n; </a:t>
                      </a:r>
                      <a:r>
                        <a:rPr lang="en" sz="1600"/>
                        <a:t>R</a:t>
                      </a:r>
                      <a:r>
                        <a:rPr lang="en" sz="1600"/>
                        <a:t>efinement of the design based on early tests</a:t>
                      </a:r>
                      <a:endParaRPr sz="16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10/27 - 11/2</a:t>
                      </a:r>
                      <a:endParaRPr sz="16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Initial prototype testing and debugging; </a:t>
                      </a:r>
                      <a:r>
                        <a:rPr lang="en" sz="1600"/>
                        <a:t>Iteration</a:t>
                      </a:r>
                      <a:r>
                        <a:rPr lang="en" sz="1600"/>
                        <a:t> cycle 1: refine prototype</a:t>
                      </a:r>
                      <a:endParaRPr sz="16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11/3 - 11/9</a:t>
                      </a:r>
                      <a:endParaRPr sz="16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Experimental Protocol Design and i</a:t>
                      </a:r>
                      <a:r>
                        <a:rPr lang="en" sz="1600"/>
                        <a:t>ncorporate feedback from prototype iteration</a:t>
                      </a:r>
                      <a:endParaRPr sz="16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11/10 - 11/16</a:t>
                      </a:r>
                      <a:endParaRPr sz="16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Experimental Environment Setup and Preliminary Testing; Iteration cycle 2: refine setup/interface</a:t>
                      </a:r>
                      <a:endParaRPr sz="16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11/17 - 11/23</a:t>
                      </a:r>
                      <a:endParaRPr sz="16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Experiment execution and data collection</a:t>
                      </a:r>
                      <a:endParaRPr sz="16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9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11/24 - 11/30</a:t>
                      </a:r>
                      <a:endParaRPr sz="16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Data analysis and derivation of results</a:t>
                      </a:r>
                      <a:endParaRPr sz="16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10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12/1 - 12/8</a:t>
                      </a:r>
                      <a:endParaRPr sz="16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Finalising the paper</a:t>
                      </a:r>
                      <a:endParaRPr sz="16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3"/>
          <p:cNvSpPr txBox="1"/>
          <p:nvPr>
            <p:ph idx="4294967295" type="subTitle"/>
          </p:nvPr>
        </p:nvSpPr>
        <p:spPr>
          <a:xfrm>
            <a:off x="2878020" y="2038494"/>
            <a:ext cx="6432900" cy="2781000"/>
          </a:xfrm>
          <a:prstGeom prst="rect">
            <a:avLst/>
          </a:prstGeom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6500">
                <a:solidFill>
                  <a:schemeClr val="dk1"/>
                </a:solidFill>
              </a:rPr>
              <a:t>Thank You !</a:t>
            </a:r>
            <a:endParaRPr b="1" sz="6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4"/>
          <p:cNvSpPr txBox="1"/>
          <p:nvPr>
            <p:ph idx="4294967295" type="subTitle"/>
          </p:nvPr>
        </p:nvSpPr>
        <p:spPr>
          <a:xfrm>
            <a:off x="565445" y="1480269"/>
            <a:ext cx="6432900" cy="2781000"/>
          </a:xfrm>
          <a:prstGeom prst="rect">
            <a:avLst/>
          </a:prstGeom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6500">
                <a:solidFill>
                  <a:schemeClr val="dk1"/>
                </a:solidFill>
              </a:rPr>
              <a:t>Questions?</a:t>
            </a:r>
            <a:endParaRPr b="1" sz="6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